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1933AB0-BEEA-0C09-CF4E-6EA00D589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34A76C0-C481-7CC9-6B49-C6CD23686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4442228-D6F9-4754-C5BE-0FD55F413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995A1-C74A-4127-8318-BA49FAF51C15}" type="datetimeFigureOut">
              <a:rPr lang="en-IL" smtClean="0"/>
              <a:t>13/08/2026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851BB1E-CF8B-6424-7DF4-2D778DB9B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6EAE9B7-ACCE-5CD7-1B99-CB4596349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C59D3-F242-4F55-B1B5-AF169337CA3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14880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68FC551-077F-BC47-B250-AF255617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CAA4B35-3451-8E73-E011-D16F97AB3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A749FF4-8A26-48D9-3790-4BEA20AF1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995A1-C74A-4127-8318-BA49FAF51C15}" type="datetimeFigureOut">
              <a:rPr lang="en-IL" smtClean="0"/>
              <a:t>13/08/2026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B3ADA3B-30B0-AA67-E139-F89F2AED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5D338FA-080C-9EFD-2740-3F18652E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C59D3-F242-4F55-B1B5-AF169337CA3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73019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4996262-2D26-6D60-15EE-34C16E745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732DB65-5BA0-9C21-E6D5-C1E5F5F04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7DF4B82-462A-3071-CC52-30488265B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995A1-C74A-4127-8318-BA49FAF51C15}" type="datetimeFigureOut">
              <a:rPr lang="en-IL" smtClean="0"/>
              <a:t>13/08/2026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DEF39CB-9179-7EDE-A8E7-3538BF39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2AF2D07-D9BD-1563-66A3-0792B4149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C59D3-F242-4F55-B1B5-AF169337CA3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88236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10BA06D-6D4E-7AC2-EDE3-C77CE3B76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877AF00-7C77-0EF8-0F11-8BFBD6ECED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84D262B-1F81-3B17-B579-DCA84B9BA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A23BD6A-FB8C-832F-DA8E-5ECF83C35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995A1-C74A-4127-8318-BA49FAF51C15}" type="datetimeFigureOut">
              <a:rPr lang="en-IL" smtClean="0"/>
              <a:t>13/08/2026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5825F84-6B9E-C1A6-70D9-C5279529B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DD21960-DAB4-AE46-6326-F03F6F1F5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C59D3-F242-4F55-B1B5-AF169337CA3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33572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EED2C0E-D1DB-9AE0-9A1B-3345F6043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01B979E-234D-6A96-C038-7742C4F7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93FB964-3F57-554D-1828-B6B009D37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26747A4-2EB1-65FE-F0F2-8779DDC83E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EDDB5B10-E4B1-18DA-79AF-D4C7947992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EC829888-C322-DCFD-D44D-4E74F7FF0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995A1-C74A-4127-8318-BA49FAF51C15}" type="datetimeFigureOut">
              <a:rPr lang="en-IL" smtClean="0"/>
              <a:t>13/08/2026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3E080DC-0DB0-454C-98E9-0107B78A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211468FE-034D-FABB-18BB-9555EDEBE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C59D3-F242-4F55-B1B5-AF169337CA3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4491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0D6072B-F20D-A96F-AB53-605943F4E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529B5C2A-585C-CC20-7742-656858F15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995A1-C74A-4127-8318-BA49FAF51C15}" type="datetimeFigureOut">
              <a:rPr lang="en-IL" smtClean="0"/>
              <a:t>13/08/2026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95A3B6B-F431-3FF8-7A8B-02F7FB80F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09961DC0-D3B0-6B82-9AE7-D69C5FFC1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C59D3-F242-4F55-B1B5-AF169337CA3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04208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C94B674B-83F8-342F-397A-4FBE65244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995A1-C74A-4127-8318-BA49FAF51C15}" type="datetimeFigureOut">
              <a:rPr lang="en-IL" smtClean="0"/>
              <a:t>13/08/2026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306DD28F-40F5-AD9F-7A35-9F90F8007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6DAD9AB-5140-CAA2-EC8E-98584DA27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C59D3-F242-4F55-B1B5-AF169337CA3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44665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082F3B1-7F70-1D8E-70CC-51A6B6FB5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5D9FF6B-7BAB-B933-BA80-D706100DE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F598435-BDD7-1C34-6D65-47CEC9D49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915447F-4A6F-6250-30FD-CA59D9B51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995A1-C74A-4127-8318-BA49FAF51C15}" type="datetimeFigureOut">
              <a:rPr lang="en-IL" smtClean="0"/>
              <a:t>13/08/2026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9363DDC-858E-809F-AFD4-A8687B11E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4562A1E-D116-225C-BCFD-B1A0180F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C59D3-F242-4F55-B1B5-AF169337CA3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66118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E177B1B-8E95-18EF-55B9-55B8C05E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3E232DD5-0F23-969F-DA2A-A272C492B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784C39E1-C0B7-582D-EB8B-B5E45C690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280F6D0-2FE0-3E67-0BE7-7326C7D2A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995A1-C74A-4127-8318-BA49FAF51C15}" type="datetimeFigureOut">
              <a:rPr lang="en-IL" smtClean="0"/>
              <a:t>13/08/2026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7D4DC1D-303C-9674-49BD-EC3BE9C7D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225029F-49B3-0202-6C20-E786EDB5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C59D3-F242-4F55-B1B5-AF169337CA3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39105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FB63563-2EC0-FA79-874D-49B1389E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6CBB7B06-D79B-BE62-FB3F-8210CB80D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DC40FA8-01DE-AFC9-22A1-D63394918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995A1-C74A-4127-8318-BA49FAF51C15}" type="datetimeFigureOut">
              <a:rPr lang="en-IL" smtClean="0"/>
              <a:t>13/08/2026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074F3D2-844D-5735-443A-DF56DFE4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0AAFEC2-6BB9-BD40-9156-BDC952C92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C59D3-F242-4F55-B1B5-AF169337CA3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89816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86CF0AFF-0452-D050-06B5-B4C6B9F54B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8D1FF7B-40B1-763B-AA8C-154106F8E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DA46D50-CF3E-D420-B594-919CA5A2C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995A1-C74A-4127-8318-BA49FAF51C15}" type="datetimeFigureOut">
              <a:rPr lang="en-IL" smtClean="0"/>
              <a:t>13/08/2026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9F088C-A28E-1F98-21C6-57090BD35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8E3725C-B7CF-D901-2238-D8318483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C59D3-F242-4F55-B1B5-AF169337CA3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72403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885B5F9D-1E9B-5DF6-992E-1B11490FB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E99E601-68BB-EDEA-91C6-E55BC7309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851082D-8E71-3E46-DF8D-E9133A3133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995A1-C74A-4127-8318-BA49FAF51C15}" type="datetimeFigureOut">
              <a:rPr lang="en-IL" smtClean="0"/>
              <a:t>13/08/2026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F26769B-7B90-FC51-EBC4-A392AE66E7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6195239-CBF6-82F6-05C7-DCA85D7BC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FC59D3-F242-4F55-B1B5-AF169337CA3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64730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BA48706-443D-9DE6-B1F8-259BA5CF40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Cophylogenetic Reconciliation</a:t>
            </a:r>
            <a:endParaRPr lang="en-IL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3CAC3547-0EB6-9DD7-F20D-2DFBE0E1D5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89434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תמונה 7">
            <a:extLst>
              <a:ext uri="{FF2B5EF4-FFF2-40B4-BE49-F238E27FC236}">
                <a16:creationId xmlns:a16="http://schemas.microsoft.com/office/drawing/2014/main" id="{6A8035D9-7B77-5751-DCC9-F94BC5F1D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946400"/>
            <a:ext cx="6866644" cy="3546475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FA3AFE34-8295-0E70-2C9E-4A2C957EC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Mapping the parallel histories of linked species</a:t>
            </a:r>
            <a:endParaRPr lang="en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CEE451D-BC7D-B3C3-D334-B4B4F8510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343" y="2964316"/>
            <a:ext cx="5682343" cy="1603375"/>
          </a:xfrm>
        </p:spPr>
        <p:txBody>
          <a:bodyPr/>
          <a:lstStyle/>
          <a:p>
            <a:pPr lvl="1" algn="l" rtl="0"/>
            <a:r>
              <a:rPr lang="en-US" dirty="0"/>
              <a:t>Do they speciate simultaneously?</a:t>
            </a:r>
          </a:p>
          <a:p>
            <a:pPr lvl="1" algn="l" rtl="0"/>
            <a:r>
              <a:rPr lang="en-US" dirty="0"/>
              <a:t>Do parasite jump to new hosts?</a:t>
            </a:r>
          </a:p>
          <a:p>
            <a:pPr lvl="1" algn="l" rtl="0"/>
            <a:r>
              <a:rPr lang="en-US" dirty="0"/>
              <a:t>How to reconstruct millions of years of invisible history?</a:t>
            </a:r>
          </a:p>
          <a:p>
            <a:pPr lvl="1" algn="l" rtl="0"/>
            <a:endParaRPr lang="en-IL" dirty="0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7DA1EB51-43E2-FBF4-A6EA-2C3DEF09BB42}"/>
              </a:ext>
            </a:extLst>
          </p:cNvPr>
          <p:cNvSpPr txBox="1"/>
          <p:nvPr/>
        </p:nvSpPr>
        <p:spPr>
          <a:xfrm>
            <a:off x="580116" y="1951890"/>
            <a:ext cx="111111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2400" dirty="0"/>
              <a:t>The challenge - Reconstruct shared evolutionary past of host and parasite from both host and parasite trees and current mapping.</a:t>
            </a:r>
          </a:p>
        </p:txBody>
      </p:sp>
    </p:spTree>
    <p:extLst>
      <p:ext uri="{BB962C8B-B14F-4D97-AF65-F5344CB8AC3E}">
        <p14:creationId xmlns:p14="http://schemas.microsoft.com/office/powerpoint/2010/main" val="3830237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0D5E6D5-A84B-BF9F-0177-FAAC2C765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Order vs. Chaos in nature </a:t>
            </a:r>
            <a:endParaRPr lang="en-IL" dirty="0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C152D15-8DF7-662B-A3FE-20BAEDCC6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High Congruence: Order</a:t>
            </a:r>
            <a:endParaRPr lang="en-IL" dirty="0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086181A3-807D-AEE2-EFFB-D829E22F8C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l" rtl="0"/>
            <a:r>
              <a:rPr lang="en-US" dirty="0"/>
              <a:t>Gopher Louse system</a:t>
            </a:r>
            <a:endParaRPr lang="en-IL" dirty="0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69003374-CA65-68FF-A006-A355C7BD36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 rtl="0"/>
            <a:r>
              <a:rPr lang="en-US" dirty="0"/>
              <a:t>Low Congruence: Chaos</a:t>
            </a:r>
            <a:endParaRPr lang="en-IL" dirty="0"/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4CBC61E5-C402-202F-99C1-D84B99C2753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algn="l" rtl="0"/>
            <a:r>
              <a:rPr lang="en-US" dirty="0"/>
              <a:t>Finches – Brood parasites</a:t>
            </a:r>
            <a:endParaRPr lang="en-IL" dirty="0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2FDF5027-6D1D-D20E-8641-A1C93B80DFDA}"/>
              </a:ext>
            </a:extLst>
          </p:cNvPr>
          <p:cNvPicPr>
            <a:picLocks/>
          </p:cNvPicPr>
          <p:nvPr/>
        </p:nvPicPr>
        <p:blipFill>
          <a:blip r:embed="rId2"/>
          <a:srcRect t="5162"/>
          <a:stretch>
            <a:fillRect/>
          </a:stretch>
        </p:blipFill>
        <p:spPr>
          <a:xfrm>
            <a:off x="201586" y="3006726"/>
            <a:ext cx="5400000" cy="3600000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D4717412-E555-4AC7-C37D-B05895D4B30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0"/>
          <a:stretch>
            <a:fillRect/>
          </a:stretch>
        </p:blipFill>
        <p:spPr>
          <a:xfrm>
            <a:off x="6243313" y="3006726"/>
            <a:ext cx="54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019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181C2B4-AF65-131E-ED00-563CDC549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DTL model</a:t>
            </a:r>
            <a:endParaRPr lang="en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2C70F48-5DEB-3443-4691-59FC5A1FA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US" sz="2400" dirty="0"/>
              <a:t>Dynamic programming model,</a:t>
            </a:r>
            <a:r>
              <a:rPr lang="en-IL" dirty="0"/>
              <a:t> </a:t>
            </a:r>
            <a:r>
              <a:rPr lang="en-US" sz="2400" dirty="0"/>
              <a:t>w</a:t>
            </a:r>
            <a:r>
              <a:rPr lang="en-IL" sz="2400" dirty="0" err="1"/>
              <a:t>alk</a:t>
            </a:r>
            <a:r>
              <a:rPr lang="en-IL" sz="2400" dirty="0"/>
              <a:t> the parasite tree bottom-up (children before parents)</a:t>
            </a:r>
          </a:p>
          <a:p>
            <a:pPr marL="0" indent="0" algn="l" rtl="0">
              <a:buNone/>
            </a:pPr>
            <a:endParaRPr lang="en-IL" sz="2400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532D6386-AE74-3234-6B74-60A43009E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791" y="2754350"/>
            <a:ext cx="4069881" cy="3216004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DDB85858-654C-4205-7631-E10A24DA55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89" t="34520" r="4802" b="8276"/>
          <a:stretch>
            <a:fillRect/>
          </a:stretch>
        </p:blipFill>
        <p:spPr>
          <a:xfrm>
            <a:off x="854500" y="2754350"/>
            <a:ext cx="6429419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308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מציין מיקום תוכן 4">
            <a:extLst>
              <a:ext uri="{FF2B5EF4-FFF2-40B4-BE49-F238E27FC236}">
                <a16:creationId xmlns:a16="http://schemas.microsoft.com/office/drawing/2014/main" id="{16E74FDF-11BA-0C2A-85F2-16A2575542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514" y="1690688"/>
            <a:ext cx="7097485" cy="4920343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5C09F1D0-B868-9951-E390-397F559E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DTL Traceback Algorithm</a:t>
            </a:r>
            <a:endParaRPr lang="en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AC1D025-ABE3-4536-C4FE-6F026AEDE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4" y="1836511"/>
            <a:ext cx="5704113" cy="4351338"/>
          </a:xfrm>
        </p:spPr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US" dirty="0"/>
              <a:t>Reconstructs specific evolutionary events at ancestral internal nodes.</a:t>
            </a:r>
          </a:p>
          <a:p>
            <a:pPr algn="l" rtl="0"/>
            <a:r>
              <a:rPr lang="en-US" sz="2400" dirty="0"/>
              <a:t>The model infers a highly congruent history with only a single host-switch.</a:t>
            </a:r>
          </a:p>
          <a:p>
            <a:pPr algn="l" rtl="0"/>
            <a:r>
              <a:rPr lang="en-US" sz="2400" dirty="0"/>
              <a:t>(Note: Losses occur along branches and do not form new splitting nodes)</a:t>
            </a:r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122532977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3989</TotalTime>
  <Words>130</Words>
  <Application>Microsoft Office PowerPoint</Application>
  <PresentationFormat>מסך רחב</PresentationFormat>
  <Paragraphs>17</Paragraphs>
  <Slides>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ערכת נושא Office</vt:lpstr>
      <vt:lpstr>Cophylogenetic Reconciliation</vt:lpstr>
      <vt:lpstr>Mapping the parallel histories of linked species</vt:lpstr>
      <vt:lpstr>Order vs. Chaos in nature </vt:lpstr>
      <vt:lpstr>DTL model</vt:lpstr>
      <vt:lpstr>DTL Traceback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Hadar Shrot</dc:creator>
  <cp:lastModifiedBy>Hadar Shrot</cp:lastModifiedBy>
  <cp:revision>2</cp:revision>
  <dcterms:created xsi:type="dcterms:W3CDTF">2026-08-13T18:45:36Z</dcterms:created>
  <dcterms:modified xsi:type="dcterms:W3CDTF">2026-08-16T13:15:07Z</dcterms:modified>
</cp:coreProperties>
</file>